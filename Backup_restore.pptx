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6"/>
  </p:notesMasterIdLst>
  <p:sldIdLst>
    <p:sldId id="256" r:id="rId2"/>
    <p:sldId id="261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260" r:id="rId15"/>
  </p:sldIdLst>
  <p:sldSz cx="9144000" cy="5143500" type="screen16x9"/>
  <p:notesSz cx="6858000" cy="9144000"/>
  <p:embeddedFontLst>
    <p:embeddedFont>
      <p:font typeface="Cairo" panose="020B0604020202020204" charset="-78"/>
      <p:regular r:id="rId17"/>
      <p:bold r:id="rId18"/>
    </p:embeddedFont>
    <p:embeddedFont>
      <p:font typeface="Raleway" pitchFamily="2" charset="0"/>
      <p:regular r:id="rId19"/>
      <p:bold r:id="rId20"/>
      <p:italic r:id="rId21"/>
      <p:boldItalic r:id="rId22"/>
    </p:embeddedFont>
    <p:embeddedFont>
      <p:font typeface="Space Grotesk" panose="020B0604020202020204" charset="0"/>
      <p:regular r:id="rId23"/>
      <p:bold r:id="rId24"/>
    </p:embeddedFont>
    <p:embeddedFont>
      <p:font typeface="Space Grotesk Medium" panose="020B0604020202020204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3039BA-B54F-41FA-A2C5-A7817ACD34B7}">
  <a:tblStyle styleId="{9C3039BA-B54F-41FA-A2C5-A7817ACD34B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047B65B-4914-40A4-9418-A2ABA07E40A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17452BD0-3CEE-2C0A-6D14-A82FA7687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6A02BA68-9ADB-08BA-1AD7-E893E764D3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3A75167E-352C-9543-91CC-07F38AC6E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874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2E8188AB-7098-CA3B-9822-C46E34E49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B5CAC55B-4B38-FD70-0BD5-14A98DCF9C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DAE94B64-2255-81B5-D5CA-CFC9588B5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2103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ED297A64-85E3-0AC1-C2E9-F5BC935F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746A8988-A183-F8EC-A2EB-E4E2C1E82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530285B7-C235-BE3D-E445-0A3091D4D1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245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D08D5DB4-5843-FDF0-5AB0-F2F8418E6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D472B171-9D26-207F-7482-B06D44A6FF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5443D80D-E41D-BDFB-0227-6AD9D333A6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64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162225FD-8E18-0F08-DC4C-26FBF0A0A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5771B66F-3273-53A4-9C33-E530C7EAE8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802E891A-AF57-7D9A-3C2C-E319570341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8787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8E86F042-D3FD-3A76-207B-B1CBF1512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63CBB6FB-7597-5999-1380-472E8FD622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F166517F-1222-7279-BC30-B65E0F7A63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04219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DFFC61CE-C8C9-2A0F-D472-EA576FA44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13B1900E-88D3-3458-3CB0-B08C663BD8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6E81C888-0B21-C9DA-9E72-125F5C9029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3443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8DD81D1D-70CE-9A19-AD2F-65217CDE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74736334-D651-F19F-3DE2-1A2472CB81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2A2ED325-F2CE-7848-E511-0535AA84EC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1973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5B472F11-719D-0A0A-6144-F6642AD09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F5E9EC6B-EC69-355A-8738-E5AD55EDC2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B1E28CBD-4F78-2799-5925-0821FE195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46481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BFDBE634-3584-18B7-572F-3D34236EC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17242644-5673-3318-E2F6-AC9F20C9B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E96BE3A8-5CCE-A20E-9D93-3C1E293CFC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200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>
          <a:extLst>
            <a:ext uri="{FF2B5EF4-FFF2-40B4-BE49-F238E27FC236}">
              <a16:creationId xmlns:a16="http://schemas.microsoft.com/office/drawing/2014/main" id="{C85D5459-FA24-F86E-3BBC-D1FDC5CA2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4dda1946d_6_332:notes">
            <a:extLst>
              <a:ext uri="{FF2B5EF4-FFF2-40B4-BE49-F238E27FC236}">
                <a16:creationId xmlns:a16="http://schemas.microsoft.com/office/drawing/2014/main" id="{B2B673D3-9973-1307-2ADA-8D2AC7C7D3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4dda1946d_6_332:notes">
            <a:extLst>
              <a:ext uri="{FF2B5EF4-FFF2-40B4-BE49-F238E27FC236}">
                <a16:creationId xmlns:a16="http://schemas.microsoft.com/office/drawing/2014/main" id="{FB7CD44C-7E82-79A7-47A2-99CCEF182A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24704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2205375"/>
            <a:ext cx="5257800" cy="161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solidFill>
                  <a:srgbClr val="2411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885650"/>
            <a:ext cx="3690600" cy="468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4727801" cy="225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4047175" y="2388500"/>
            <a:ext cx="4383600" cy="16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4047175" y="1438750"/>
            <a:ext cx="1230300" cy="88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15" name="Google Shape;1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4416200" y="2886625"/>
            <a:ext cx="4727801" cy="225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1"/>
          </p:nvPr>
        </p:nvSpPr>
        <p:spPr>
          <a:xfrm>
            <a:off x="4911639" y="2679824"/>
            <a:ext cx="2424300" cy="15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808050" y="2679824"/>
            <a:ext cx="2424300" cy="15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3"/>
          </p:nvPr>
        </p:nvSpPr>
        <p:spPr>
          <a:xfrm>
            <a:off x="1808050" y="2244217"/>
            <a:ext cx="2424300" cy="44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4"/>
          </p:nvPr>
        </p:nvSpPr>
        <p:spPr>
          <a:xfrm>
            <a:off x="4911639" y="2244217"/>
            <a:ext cx="2424300" cy="44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0" y="4"/>
            <a:ext cx="9144004" cy="5143496"/>
            <a:chOff x="0" y="4"/>
            <a:chExt cx="9144004" cy="5143496"/>
          </a:xfrm>
        </p:grpSpPr>
        <p:pic>
          <p:nvPicPr>
            <p:cNvPr id="32" name="Google Shape;32;p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" name="Google Shape;34;p5"/>
          <p:cNvGrpSpPr/>
          <p:nvPr/>
        </p:nvGrpSpPr>
        <p:grpSpPr>
          <a:xfrm rot="-10539848" flipH="1">
            <a:off x="6108563" y="4049075"/>
            <a:ext cx="4573901" cy="3479217"/>
            <a:chOff x="1522650" y="1117750"/>
            <a:chExt cx="4574075" cy="3479350"/>
          </a:xfrm>
        </p:grpSpPr>
        <p:sp>
          <p:nvSpPr>
            <p:cNvPr id="35" name="Google Shape;35;p5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5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10" y="0"/>
            <a:ext cx="9143991" cy="5143500"/>
            <a:chOff x="10" y="0"/>
            <a:chExt cx="9143991" cy="5143500"/>
          </a:xfrm>
        </p:grpSpPr>
        <p:pic>
          <p:nvPicPr>
            <p:cNvPr id="57" name="Google Shape;57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flipH="1">
              <a:off x="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4416200" y="2886625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" name="Google Shape;59;p8"/>
          <p:cNvGrpSpPr/>
          <p:nvPr/>
        </p:nvGrpSpPr>
        <p:grpSpPr>
          <a:xfrm rot="756538">
            <a:off x="5159567" y="-1927047"/>
            <a:ext cx="4574157" cy="3479412"/>
            <a:chOff x="1522650" y="1117750"/>
            <a:chExt cx="4574075" cy="3479350"/>
          </a:xfrm>
        </p:grpSpPr>
        <p:sp>
          <p:nvSpPr>
            <p:cNvPr id="60" name="Google Shape;60;p8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8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3830000" y="17164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oogle Shape;64;p9"/>
          <p:cNvGrpSpPr/>
          <p:nvPr/>
        </p:nvGrpSpPr>
        <p:grpSpPr>
          <a:xfrm rot="756538">
            <a:off x="-714808" y="-2409347"/>
            <a:ext cx="4574157" cy="3479412"/>
            <a:chOff x="1522650" y="1117750"/>
            <a:chExt cx="4574075" cy="3479350"/>
          </a:xfrm>
        </p:grpSpPr>
        <p:sp>
          <p:nvSpPr>
            <p:cNvPr id="65" name="Google Shape;65;p9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9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" name="Google Shape;67;p9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68" name="Google Shape;68;p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713225" y="15289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subTitle" idx="1"/>
          </p:nvPr>
        </p:nvSpPr>
        <p:spPr>
          <a:xfrm>
            <a:off x="713225" y="3640050"/>
            <a:ext cx="4872900" cy="4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57132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5" name="Google Shape;75;p10"/>
          <p:cNvGrpSpPr/>
          <p:nvPr/>
        </p:nvGrpSpPr>
        <p:grpSpPr>
          <a:xfrm>
            <a:off x="0" y="4"/>
            <a:ext cx="9144004" cy="5143496"/>
            <a:chOff x="0" y="4"/>
            <a:chExt cx="9144004" cy="5143496"/>
          </a:xfrm>
        </p:grpSpPr>
        <p:pic>
          <p:nvPicPr>
            <p:cNvPr id="76" name="Google Shape;76;p1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8" name="Google Shape;78;p10"/>
          <p:cNvGrpSpPr/>
          <p:nvPr/>
        </p:nvGrpSpPr>
        <p:grpSpPr>
          <a:xfrm>
            <a:off x="-896231" y="-2525369"/>
            <a:ext cx="11703669" cy="10221582"/>
            <a:chOff x="-896231" y="-2525369"/>
            <a:chExt cx="11703669" cy="10221582"/>
          </a:xfrm>
        </p:grpSpPr>
        <p:grpSp>
          <p:nvGrpSpPr>
            <p:cNvPr id="79" name="Google Shape;79;p10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80" name="Google Shape;80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10"/>
            <p:cNvGrpSpPr/>
            <p:nvPr/>
          </p:nvGrpSpPr>
          <p:grpSpPr>
            <a:xfrm>
              <a:off x="-896231" y="-2525369"/>
              <a:ext cx="4573618" cy="3479002"/>
              <a:chOff x="1522650" y="1117750"/>
              <a:chExt cx="4574075" cy="3479350"/>
            </a:xfrm>
          </p:grpSpPr>
          <p:sp>
            <p:nvSpPr>
              <p:cNvPr id="83" name="Google Shape;83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oogle Shape;222;p24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223" name="Google Shape;223;p2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4" name="Google Shape;224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5" name="Google Shape;225;p24"/>
          <p:cNvGrpSpPr/>
          <p:nvPr/>
        </p:nvGrpSpPr>
        <p:grpSpPr>
          <a:xfrm rot="756538">
            <a:off x="-1069833" y="-1842572"/>
            <a:ext cx="4574157" cy="3479412"/>
            <a:chOff x="1522650" y="1117750"/>
            <a:chExt cx="4574075" cy="3479350"/>
          </a:xfrm>
        </p:grpSpPr>
        <p:sp>
          <p:nvSpPr>
            <p:cNvPr id="226" name="Google Shape;226;p24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4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oogle Shape;229;p25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230" name="Google Shape;230;p2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1" name="Google Shape;231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25"/>
          <p:cNvGrpSpPr/>
          <p:nvPr/>
        </p:nvGrpSpPr>
        <p:grpSpPr>
          <a:xfrm>
            <a:off x="-1845124" y="-2180828"/>
            <a:ext cx="12652562" cy="9877041"/>
            <a:chOff x="-1845124" y="-2180828"/>
            <a:chExt cx="12652562" cy="9877041"/>
          </a:xfrm>
        </p:grpSpPr>
        <p:grpSp>
          <p:nvGrpSpPr>
            <p:cNvPr id="233" name="Google Shape;233;p25"/>
            <p:cNvGrpSpPr/>
            <p:nvPr/>
          </p:nvGrpSpPr>
          <p:grpSpPr>
            <a:xfrm>
              <a:off x="-1845124" y="-2180828"/>
              <a:ext cx="4574075" cy="3479350"/>
              <a:chOff x="1522650" y="1117750"/>
              <a:chExt cx="4574075" cy="3479350"/>
            </a:xfrm>
          </p:grpSpPr>
          <p:sp>
            <p:nvSpPr>
              <p:cNvPr id="234" name="Google Shape;234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6" name="Google Shape;236;p25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237" name="Google Shape;237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4" r:id="rId4"/>
    <p:sldLayoutId id="2147483655" r:id="rId5"/>
    <p:sldLayoutId id="2147483656" r:id="rId6"/>
    <p:sldLayoutId id="2147483658" r:id="rId7"/>
    <p:sldLayoutId id="2147483670" r:id="rId8"/>
    <p:sldLayoutId id="214748367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" name="Google Shape;249;p29"/>
          <p:cNvGrpSpPr/>
          <p:nvPr/>
        </p:nvGrpSpPr>
        <p:grpSpPr>
          <a:xfrm rot="756538">
            <a:off x="-943408" y="-1494947"/>
            <a:ext cx="4574157" cy="3479412"/>
            <a:chOff x="1522650" y="1117750"/>
            <a:chExt cx="4574075" cy="3479350"/>
          </a:xfrm>
        </p:grpSpPr>
        <p:sp>
          <p:nvSpPr>
            <p:cNvPr id="250" name="Google Shape;250;p29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52" name="Google Shape;25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738810" y="0"/>
            <a:ext cx="340519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9"/>
          <p:cNvSpPr txBox="1">
            <a:spLocks noGrp="1"/>
          </p:cNvSpPr>
          <p:nvPr>
            <p:ph type="ctrTitle"/>
          </p:nvPr>
        </p:nvSpPr>
        <p:spPr>
          <a:xfrm>
            <a:off x="440012" y="1264444"/>
            <a:ext cx="7932463" cy="2554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r-Latn-RS" sz="3600" dirty="0">
                <a:solidFill>
                  <a:schemeClr val="dk1"/>
                </a:solidFill>
              </a:rPr>
              <a:t>Backup i restore mehanizmi u InfluxDB bazi podataka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254" name="Google Shape;254;p29"/>
          <p:cNvSpPr txBox="1">
            <a:spLocks noGrp="1"/>
          </p:cNvSpPr>
          <p:nvPr>
            <p:ph type="subTitle" idx="1"/>
          </p:nvPr>
        </p:nvSpPr>
        <p:spPr>
          <a:xfrm>
            <a:off x="713225" y="3885650"/>
            <a:ext cx="3690600" cy="46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r-Latn-RS"/>
              <a:t>Anita Golubović, broj indeksa 2095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r-Latn-RS" dirty="0"/>
              <a:t>Object storage</a:t>
            </a:r>
            <a:endParaRPr dirty="0"/>
          </a:p>
        </p:txBody>
      </p:sp>
      <p:sp>
        <p:nvSpPr>
          <p:cNvPr id="306" name="Google Shape;306;p34"/>
          <p:cNvSpPr txBox="1">
            <a:spLocks noGrp="1"/>
          </p:cNvSpPr>
          <p:nvPr>
            <p:ph type="subTitle" idx="3"/>
          </p:nvPr>
        </p:nvSpPr>
        <p:spPr>
          <a:xfrm>
            <a:off x="786493" y="1399074"/>
            <a:ext cx="6843032" cy="22656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sr-Latn-RS" sz="2000" dirty="0"/>
              <a:t>Lokalni fajl sistem,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AWS S3 </a:t>
            </a:r>
            <a:r>
              <a:rPr lang="en-US" sz="2000" dirty="0" err="1"/>
              <a:t>i</a:t>
            </a:r>
            <a:r>
              <a:rPr lang="en-US" sz="2000" dirty="0"/>
              <a:t> S3-kompatibilna </a:t>
            </a:r>
            <a:r>
              <a:rPr lang="en-US" sz="2000" dirty="0" err="1"/>
              <a:t>skladišta</a:t>
            </a:r>
            <a:r>
              <a:rPr lang="en-US" sz="2000" dirty="0"/>
              <a:t> (</a:t>
            </a:r>
            <a:r>
              <a:rPr lang="en-US" sz="2000" dirty="0" err="1"/>
              <a:t>MinIO</a:t>
            </a:r>
            <a:r>
              <a:rPr lang="en-US" sz="2000" dirty="0"/>
              <a:t>),</a:t>
            </a:r>
            <a:endParaRPr lang="sr-Latn-RS" sz="20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Azure Blob Storage </a:t>
            </a:r>
            <a:r>
              <a:rPr lang="en-US" sz="2000" dirty="0" err="1"/>
              <a:t>i</a:t>
            </a:r>
            <a:r>
              <a:rPr lang="en-US" sz="2000" dirty="0"/>
              <a:t> </a:t>
            </a:r>
            <a:endParaRPr lang="sr-Latn-RS" sz="20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Google Cloud Storage.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71F0F0EC-B5DB-3A46-5A13-1BD4872B1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88BE6798-8C6C-8A3A-41D8-803463108B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Cyrl-RS" sz="3200" dirty="0" err="1"/>
              <a:t>Struktura</a:t>
            </a:r>
            <a:r>
              <a:rPr lang="sr-Cyrl-RS" sz="3200" dirty="0"/>
              <a:t> </a:t>
            </a:r>
            <a:r>
              <a:rPr lang="sr-Cyrl-RS" sz="3200" dirty="0" err="1"/>
              <a:t>podataka</a:t>
            </a:r>
            <a:r>
              <a:rPr lang="sr-Cyrl-RS" sz="3200" dirty="0"/>
              <a:t> </a:t>
            </a:r>
            <a:r>
              <a:rPr lang="sr-Cyrl-RS" sz="3200" dirty="0" err="1"/>
              <a:t>na</a:t>
            </a:r>
            <a:r>
              <a:rPr lang="sr-Cyrl-RS" sz="3200" dirty="0"/>
              <a:t> </a:t>
            </a:r>
            <a:r>
              <a:rPr lang="sr-Cyrl-RS" sz="3200" dirty="0" err="1"/>
              <a:t>disku</a:t>
            </a:r>
            <a:r>
              <a:rPr lang="sr-Cyrl-RS" sz="3200" dirty="0"/>
              <a:t> </a:t>
            </a:r>
            <a:endParaRPr lang="en-US" sz="3200" dirty="0"/>
          </a:p>
        </p:txBody>
      </p:sp>
      <p:sp>
        <p:nvSpPr>
          <p:cNvPr id="306" name="Google Shape;306;p34">
            <a:extLst>
              <a:ext uri="{FF2B5EF4-FFF2-40B4-BE49-F238E27FC236}">
                <a16:creationId xmlns:a16="http://schemas.microsoft.com/office/drawing/2014/main" id="{E39E9F3A-28DA-9AF0-ECE3-F84E45BB8A4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86492" y="1399073"/>
            <a:ext cx="7703999" cy="29871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sr-Latn-RS" dirty="0"/>
              <a:t>&lt;node_id&gt; </a:t>
            </a:r>
          </a:p>
          <a:p>
            <a:pPr marL="285750" lvl="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dirty="0"/>
              <a:t>&lt;</a:t>
            </a:r>
            <a:r>
              <a:rPr lang="en-US" dirty="0" err="1"/>
              <a:t>node_id</a:t>
            </a:r>
            <a:r>
              <a:rPr lang="en-US" dirty="0"/>
              <a:t>&gt;/_</a:t>
            </a:r>
            <a:r>
              <a:rPr lang="en-US" dirty="0" err="1"/>
              <a:t>catalog_checkpoint</a:t>
            </a:r>
            <a:endParaRPr lang="sr-Latn-RS" dirty="0"/>
          </a:p>
          <a:p>
            <a:pPr marL="285750" lvl="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dirty="0"/>
              <a:t>&lt;</a:t>
            </a:r>
            <a:r>
              <a:rPr lang="en-US" dirty="0" err="1"/>
              <a:t>node_id</a:t>
            </a:r>
            <a:r>
              <a:rPr lang="en-US" dirty="0"/>
              <a:t>&gt;/catalog/</a:t>
            </a:r>
            <a:endParaRPr lang="sr-Latn-RS" dirty="0"/>
          </a:p>
          <a:p>
            <a:pPr marL="285750" lvl="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dirty="0"/>
              <a:t>&lt;</a:t>
            </a:r>
            <a:r>
              <a:rPr lang="en-US" dirty="0" err="1"/>
              <a:t>node_id</a:t>
            </a:r>
            <a:r>
              <a:rPr lang="en-US" dirty="0"/>
              <a:t>&gt;/</a:t>
            </a:r>
            <a:r>
              <a:rPr lang="en-US" dirty="0" err="1"/>
              <a:t>wal</a:t>
            </a:r>
            <a:r>
              <a:rPr lang="en-US" dirty="0"/>
              <a:t>/</a:t>
            </a:r>
            <a:endParaRPr lang="sr-Latn-RS" dirty="0"/>
          </a:p>
          <a:p>
            <a:pPr marL="285750" lvl="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dirty="0"/>
              <a:t>&lt;</a:t>
            </a:r>
            <a:r>
              <a:rPr lang="en-US" dirty="0" err="1"/>
              <a:t>node_id</a:t>
            </a:r>
            <a:r>
              <a:rPr lang="en-US" dirty="0"/>
              <a:t>&gt;/snapshots/</a:t>
            </a:r>
            <a:endParaRPr lang="sr-Latn-RS" dirty="0"/>
          </a:p>
          <a:p>
            <a:pPr marL="285750" lvl="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GB" dirty="0"/>
              <a:t>&lt;</a:t>
            </a:r>
            <a:r>
              <a:rPr lang="en-GB" dirty="0" err="1"/>
              <a:t>node_id</a:t>
            </a:r>
            <a:r>
              <a:rPr lang="en-GB" dirty="0"/>
              <a:t>&gt;/</a:t>
            </a:r>
            <a:r>
              <a:rPr lang="en-GB" dirty="0" err="1"/>
              <a:t>dbs</a:t>
            </a:r>
            <a:r>
              <a:rPr lang="en-GB" dirty="0"/>
              <a:t>/&lt;</a:t>
            </a:r>
            <a:r>
              <a:rPr lang="en-GB" dirty="0" err="1"/>
              <a:t>db</a:t>
            </a:r>
            <a:r>
              <a:rPr lang="en-GB" dirty="0"/>
              <a:t>&gt;/&lt;table&gt;/&lt;date&gt;/</a:t>
            </a:r>
            <a:endParaRPr lang="sr-Latn-RS" dirty="0"/>
          </a:p>
          <a:p>
            <a:pPr marL="285750" lvl="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GB" dirty="0"/>
              <a:t>&lt;</a:t>
            </a:r>
            <a:r>
              <a:rPr lang="en-GB" dirty="0" err="1"/>
              <a:t>node_id</a:t>
            </a:r>
            <a:r>
              <a:rPr lang="en-GB" dirty="0"/>
              <a:t>&gt;/table-snapshots/&lt;</a:t>
            </a:r>
            <a:r>
              <a:rPr lang="en-GB" dirty="0" err="1"/>
              <a:t>db</a:t>
            </a:r>
            <a:r>
              <a:rPr lang="en-GB" dirty="0"/>
              <a:t>&gt;/&lt;table&gt;/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3025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8A6E936F-C2E7-2272-0C95-009585018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26266993-1304-51D3-AABD-EF0551208A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Odsustvo ugrađenih alata</a:t>
            </a:r>
            <a:endParaRPr lang="en-US" sz="3200" dirty="0"/>
          </a:p>
        </p:txBody>
      </p:sp>
      <p:sp>
        <p:nvSpPr>
          <p:cNvPr id="306" name="Google Shape;306;p34">
            <a:extLst>
              <a:ext uri="{FF2B5EF4-FFF2-40B4-BE49-F238E27FC236}">
                <a16:creationId xmlns:a16="http://schemas.microsoft.com/office/drawing/2014/main" id="{7E7B1FEC-EBE4-772B-078B-26FCCAD08783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86492" y="1399073"/>
            <a:ext cx="7703999" cy="29871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sr-Latn-RS" dirty="0"/>
              <a:t>Ručno kopiranje fajlova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sr-Latn-R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sr-Latn-R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sr-Latn-RS" dirty="0"/>
              <a:t>K</a:t>
            </a:r>
            <a:r>
              <a:rPr lang="en-US" dirty="0" err="1"/>
              <a:t>opiranje</a:t>
            </a:r>
            <a:r>
              <a:rPr lang="en-US" dirty="0"/>
              <a:t> </a:t>
            </a:r>
            <a:r>
              <a:rPr lang="en-US" dirty="0" err="1"/>
              <a:t>svih</a:t>
            </a:r>
            <a:r>
              <a:rPr lang="en-US" dirty="0"/>
              <a:t> </a:t>
            </a:r>
            <a:r>
              <a:rPr lang="en-US" dirty="0" err="1"/>
              <a:t>fajlova</a:t>
            </a:r>
            <a:r>
              <a:rPr lang="en-US" dirty="0"/>
              <a:t> u </a:t>
            </a:r>
            <a:r>
              <a:rPr lang="en-US" dirty="0" err="1"/>
              <a:t>proizvoljnom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redosledu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rezultovati</a:t>
            </a:r>
            <a:r>
              <a:rPr lang="en-US" dirty="0"/>
              <a:t> </a:t>
            </a:r>
            <a:r>
              <a:rPr lang="en-US" dirty="0" err="1"/>
              <a:t>neusaglašenim</a:t>
            </a:r>
            <a:r>
              <a:rPr lang="en-US" dirty="0"/>
              <a:t> </a:t>
            </a:r>
            <a:r>
              <a:rPr lang="en-US" dirty="0" err="1"/>
              <a:t>snimkom</a:t>
            </a:r>
            <a:r>
              <a:rPr lang="en-US" dirty="0"/>
              <a:t>, </a:t>
            </a:r>
            <a:r>
              <a:rPr lang="en-US" dirty="0" err="1"/>
              <a:t>odnosno</a:t>
            </a:r>
            <a:r>
              <a:rPr lang="en-US" dirty="0"/>
              <a:t> </a:t>
            </a:r>
            <a:r>
              <a:rPr lang="en-US" dirty="0" err="1"/>
              <a:t>stanjem</a:t>
            </a:r>
            <a:r>
              <a:rPr lang="en-US" dirty="0"/>
              <a:t> u </a:t>
            </a:r>
            <a:r>
              <a:rPr lang="en-US" dirty="0" err="1"/>
              <a:t>kome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određene</a:t>
            </a:r>
            <a:r>
              <a:rPr lang="en-US" dirty="0"/>
              <a:t> </a:t>
            </a:r>
            <a:r>
              <a:rPr lang="en-US" dirty="0" err="1"/>
              <a:t>komponente</a:t>
            </a:r>
            <a:r>
              <a:rPr lang="en-US" dirty="0"/>
              <a:t> </a:t>
            </a:r>
            <a:r>
              <a:rPr lang="en-US" dirty="0" err="1"/>
              <a:t>novije</a:t>
            </a:r>
            <a:r>
              <a:rPr lang="en-US" dirty="0"/>
              <a:t> od </a:t>
            </a:r>
            <a:r>
              <a:rPr lang="en-US" dirty="0" err="1"/>
              <a:t>drugih</a:t>
            </a:r>
            <a:r>
              <a:rPr lang="sr-Latn-RS" dirty="0"/>
              <a:t>!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sr-Latn-R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sr-Latn-RS" dirty="0"/>
              <a:t>Backup/restore pažljivo poštovanje propisanog redosleda!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72635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2BB9FAB1-EE32-158D-35EF-DD512E1F8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A6E31221-0862-8BF6-72FB-49E11CB4FE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Preporučeni redosled backup-a</a:t>
            </a:r>
            <a:endParaRPr lang="en-US" sz="3200" dirty="0"/>
          </a:p>
        </p:txBody>
      </p:sp>
      <p:sp>
        <p:nvSpPr>
          <p:cNvPr id="306" name="Google Shape;306;p34">
            <a:extLst>
              <a:ext uri="{FF2B5EF4-FFF2-40B4-BE49-F238E27FC236}">
                <a16:creationId xmlns:a16="http://schemas.microsoft.com/office/drawing/2014/main" id="{01947198-7FB1-02D6-ECCD-0D67879F4148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86492" y="1399073"/>
            <a:ext cx="7703999" cy="29871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95300" lvl="0" indent="-342900">
              <a:buFont typeface="+mj-lt"/>
              <a:buAutoNum type="arabicPeriod"/>
            </a:pPr>
            <a:r>
              <a:rPr lang="en-US" b="1" dirty="0"/>
              <a:t>&lt;</a:t>
            </a:r>
            <a:r>
              <a:rPr lang="en-US" b="1" dirty="0" err="1"/>
              <a:t>node_id</a:t>
            </a:r>
            <a:r>
              <a:rPr lang="en-US" b="1" dirty="0"/>
              <a:t>&gt;/snapshots/</a:t>
            </a:r>
            <a:r>
              <a:rPr lang="en-US" dirty="0"/>
              <a:t> - snapshot </a:t>
            </a:r>
            <a:r>
              <a:rPr lang="en-US" dirty="0" err="1"/>
              <a:t>fajlovi</a:t>
            </a:r>
            <a:r>
              <a:rPr lang="en-US" dirty="0"/>
              <a:t> koji </a:t>
            </a:r>
            <a:r>
              <a:rPr lang="en-US" dirty="0" err="1"/>
              <a:t>definišu</a:t>
            </a:r>
            <a:r>
              <a:rPr lang="en-US" dirty="0"/>
              <a:t> </a:t>
            </a:r>
            <a:r>
              <a:rPr lang="en-US" dirty="0" err="1"/>
              <a:t>konzistentno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Parquet </a:t>
            </a:r>
            <a:r>
              <a:rPr lang="en-US" dirty="0" err="1"/>
              <a:t>fajlova</a:t>
            </a:r>
            <a:r>
              <a:rPr lang="en-US" dirty="0"/>
              <a:t>,</a:t>
            </a:r>
          </a:p>
          <a:p>
            <a:pPr marL="495300" lvl="0" indent="-342900">
              <a:buFont typeface="+mj-lt"/>
              <a:buAutoNum type="arabicPeriod"/>
            </a:pPr>
            <a:r>
              <a:rPr lang="en-US" b="1" dirty="0"/>
              <a:t>&lt;</a:t>
            </a:r>
            <a:r>
              <a:rPr lang="en-US" b="1" dirty="0" err="1"/>
              <a:t>node_id</a:t>
            </a:r>
            <a:r>
              <a:rPr lang="en-US" b="1" dirty="0"/>
              <a:t>&gt;/</a:t>
            </a:r>
            <a:r>
              <a:rPr lang="en-US" b="1" dirty="0" err="1"/>
              <a:t>dbs</a:t>
            </a:r>
            <a:r>
              <a:rPr lang="en-US" b="1" dirty="0"/>
              <a:t>/</a:t>
            </a:r>
            <a:r>
              <a:rPr lang="en-US" dirty="0"/>
              <a:t> - Parquet </a:t>
            </a:r>
            <a:r>
              <a:rPr lang="en-US" dirty="0" err="1"/>
              <a:t>fajlovi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persistovanim</a:t>
            </a:r>
            <a:r>
              <a:rPr lang="en-US" dirty="0"/>
              <a:t> </a:t>
            </a:r>
            <a:r>
              <a:rPr lang="en-US" dirty="0" err="1"/>
              <a:t>vremensko-serijskim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, </a:t>
            </a:r>
          </a:p>
          <a:p>
            <a:pPr marL="495300" lvl="0" indent="-342900">
              <a:buFont typeface="+mj-lt"/>
              <a:buAutoNum type="arabicPeriod"/>
            </a:pPr>
            <a:r>
              <a:rPr lang="en-US" b="1" dirty="0"/>
              <a:t>&lt;</a:t>
            </a:r>
            <a:r>
              <a:rPr lang="en-US" b="1" dirty="0" err="1"/>
              <a:t>node_id</a:t>
            </a:r>
            <a:r>
              <a:rPr lang="en-US" b="1" dirty="0"/>
              <a:t>&gt;/</a:t>
            </a:r>
            <a:r>
              <a:rPr lang="en-US" b="1" dirty="0" err="1"/>
              <a:t>wal</a:t>
            </a:r>
            <a:r>
              <a:rPr lang="en-US" b="1" dirty="0"/>
              <a:t>/</a:t>
            </a:r>
            <a:r>
              <a:rPr lang="en-US" dirty="0"/>
              <a:t> - WAL </a:t>
            </a:r>
            <a:r>
              <a:rPr lang="en-US" dirty="0" err="1"/>
              <a:t>fajlovi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nepersistovanim</a:t>
            </a:r>
            <a:r>
              <a:rPr lang="en-US" dirty="0"/>
              <a:t> u Parquet </a:t>
            </a:r>
            <a:r>
              <a:rPr lang="en-US" dirty="0" err="1"/>
              <a:t>formatu</a:t>
            </a:r>
            <a:r>
              <a:rPr lang="en-US" dirty="0"/>
              <a:t>,</a:t>
            </a:r>
          </a:p>
          <a:p>
            <a:pPr marL="495300" lvl="0" indent="-342900">
              <a:buFont typeface="+mj-lt"/>
              <a:buAutoNum type="arabicPeriod"/>
            </a:pPr>
            <a:r>
              <a:rPr lang="en-US" b="1" dirty="0"/>
              <a:t>&lt;</a:t>
            </a:r>
            <a:r>
              <a:rPr lang="en-US" b="1" dirty="0" err="1"/>
              <a:t>node_id</a:t>
            </a:r>
            <a:r>
              <a:rPr lang="en-US" b="1" dirty="0"/>
              <a:t>&gt;/catalog/</a:t>
            </a:r>
            <a:r>
              <a:rPr lang="en-US" dirty="0"/>
              <a:t> - log </a:t>
            </a:r>
            <a:r>
              <a:rPr lang="en-US" dirty="0" err="1"/>
              <a:t>fajlovi</a:t>
            </a:r>
            <a:r>
              <a:rPr lang="en-US" dirty="0"/>
              <a:t> koji prate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kataloškog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,</a:t>
            </a:r>
          </a:p>
          <a:p>
            <a:pPr marL="495300" lvl="0" indent="-342900">
              <a:buFont typeface="+mj-lt"/>
              <a:buAutoNum type="arabicPeriod"/>
            </a:pPr>
            <a:r>
              <a:rPr lang="en-US" b="1" dirty="0"/>
              <a:t>&lt;</a:t>
            </a:r>
            <a:r>
              <a:rPr lang="en-US" b="1" dirty="0" err="1"/>
              <a:t>node_id</a:t>
            </a:r>
            <a:r>
              <a:rPr lang="en-US" b="1" dirty="0"/>
              <a:t>&gt;/_</a:t>
            </a:r>
            <a:r>
              <a:rPr lang="en-US" b="1" dirty="0" err="1"/>
              <a:t>catalog_checkpoint</a:t>
            </a:r>
            <a:r>
              <a:rPr lang="en-US" dirty="0"/>
              <a:t> - checkpoint </a:t>
            </a:r>
            <a:r>
              <a:rPr lang="en-US" dirty="0" err="1"/>
              <a:t>fajl</a:t>
            </a:r>
            <a:r>
              <a:rPr lang="en-US" dirty="0"/>
              <a:t> koji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sažeto</a:t>
            </a:r>
            <a:r>
              <a:rPr lang="en-US" dirty="0"/>
              <a:t> </a:t>
            </a:r>
            <a:r>
              <a:rPr lang="en-US" dirty="0" err="1"/>
              <a:t>trenutno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</a:t>
            </a:r>
            <a:r>
              <a:rPr lang="en-US" dirty="0" err="1"/>
              <a:t>kataloga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7324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986481B0-8066-C0FF-CB17-4CEDE077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62D7B955-F9F8-C2C1-8545-198C5F9E0B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Backup na lokalnom fajl sistemu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D12A98-3C57-1D6D-52C6-93C8A82C7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1017725"/>
            <a:ext cx="6991350" cy="3826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9572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9BC3D73C-DB67-FCB2-8BDC-8C24B66CA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6CE00447-ABEE-FB68-DD04-0707C4137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en-US" dirty="0"/>
              <a:t>Backup </a:t>
            </a:r>
            <a:r>
              <a:rPr lang="en-US" dirty="0" err="1"/>
              <a:t>na</a:t>
            </a:r>
            <a:r>
              <a:rPr lang="en-US" dirty="0"/>
              <a:t> S3-kompatibilnom </a:t>
            </a:r>
            <a:r>
              <a:rPr lang="en-US" dirty="0" err="1"/>
              <a:t>skladištu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61F2D5-B764-36D9-66BE-6010DC6A82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029" y="914193"/>
            <a:ext cx="4365802" cy="411290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62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BD59B73F-85AF-1961-1959-C07BD40A9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D73E0423-B49E-21B8-4821-DC5558D273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Restore</a:t>
            </a:r>
            <a:endParaRPr lang="en-US" sz="3200" dirty="0"/>
          </a:p>
        </p:txBody>
      </p:sp>
      <p:sp>
        <p:nvSpPr>
          <p:cNvPr id="306" name="Google Shape;306;p34">
            <a:extLst>
              <a:ext uri="{FF2B5EF4-FFF2-40B4-BE49-F238E27FC236}">
                <a16:creationId xmlns:a16="http://schemas.microsoft.com/office/drawing/2014/main" id="{7E27D7C3-042F-5654-C1A9-03CB9B588323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86492" y="1399073"/>
            <a:ext cx="7703999" cy="29871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38150" indent="-285750">
              <a:buFont typeface="Arial" panose="020B0604020202020204" pitchFamily="34" charset="0"/>
              <a:buChar char="•"/>
            </a:pPr>
            <a:r>
              <a:rPr lang="sr-Latn-RS" dirty="0"/>
              <a:t>V</a:t>
            </a:r>
            <a:r>
              <a:rPr lang="en-US" dirty="0" err="1"/>
              <a:t>raćanje</a:t>
            </a:r>
            <a:r>
              <a:rPr lang="en-US" dirty="0"/>
              <a:t> </a:t>
            </a:r>
            <a:r>
              <a:rPr lang="en-US" dirty="0" err="1"/>
              <a:t>međusobno</a:t>
            </a:r>
            <a:r>
              <a:rPr lang="en-US" dirty="0"/>
              <a:t> </a:t>
            </a:r>
            <a:r>
              <a:rPr lang="en-US" dirty="0" err="1"/>
              <a:t>zavisnih</a:t>
            </a:r>
            <a:r>
              <a:rPr lang="en-US" dirty="0"/>
              <a:t> </a:t>
            </a:r>
            <a:r>
              <a:rPr lang="en-US" dirty="0" err="1"/>
              <a:t>komponenti</a:t>
            </a:r>
            <a:r>
              <a:rPr lang="en-US" dirty="0"/>
              <a:t> u </a:t>
            </a:r>
            <a:r>
              <a:rPr lang="en-US" dirty="0" err="1"/>
              <a:t>precizno</a:t>
            </a:r>
            <a:r>
              <a:rPr lang="en-US" dirty="0"/>
              <a:t> </a:t>
            </a:r>
            <a:r>
              <a:rPr lang="en-US" dirty="0" err="1"/>
              <a:t>određenom</a:t>
            </a:r>
            <a:r>
              <a:rPr lang="en-US" dirty="0"/>
              <a:t> </a:t>
            </a:r>
            <a:r>
              <a:rPr lang="en-US" dirty="0" err="1"/>
              <a:t>redosledu</a:t>
            </a:r>
            <a:r>
              <a:rPr lang="en-US" dirty="0"/>
              <a:t>,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čemu</a:t>
            </a:r>
            <a:r>
              <a:rPr lang="en-US" dirty="0"/>
              <a:t> </a:t>
            </a:r>
            <a:r>
              <a:rPr lang="en-US" dirty="0" err="1"/>
              <a:t>pogrešan</a:t>
            </a:r>
            <a:r>
              <a:rPr lang="en-US" dirty="0"/>
              <a:t> </a:t>
            </a:r>
            <a:r>
              <a:rPr lang="en-US" dirty="0" err="1"/>
              <a:t>redosled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rezultovati</a:t>
            </a:r>
            <a:r>
              <a:rPr lang="en-US" dirty="0"/>
              <a:t> </a:t>
            </a:r>
            <a:r>
              <a:rPr lang="en-US" dirty="0" err="1"/>
              <a:t>stanjem</a:t>
            </a:r>
            <a:r>
              <a:rPr lang="en-US" dirty="0"/>
              <a:t> u </a:t>
            </a:r>
            <a:r>
              <a:rPr lang="en-US" dirty="0" err="1"/>
              <a:t>kome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startuje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podaci</a:t>
            </a:r>
            <a:r>
              <a:rPr lang="en-US" dirty="0"/>
              <a:t> </a:t>
            </a:r>
            <a:r>
              <a:rPr lang="en-US" dirty="0" err="1"/>
              <a:t>nisu</a:t>
            </a:r>
            <a:r>
              <a:rPr lang="en-US" dirty="0"/>
              <a:t> </a:t>
            </a:r>
            <a:r>
              <a:rPr lang="en-US" dirty="0" err="1"/>
              <a:t>potpuni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Catalog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usaglašen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Parquet </a:t>
            </a:r>
            <a:r>
              <a:rPr lang="en-US" dirty="0" err="1"/>
              <a:t>fajlovima</a:t>
            </a:r>
            <a:r>
              <a:rPr lang="en-US" dirty="0"/>
              <a:t>.</a:t>
            </a:r>
          </a:p>
          <a:p>
            <a:pPr marL="438150" lvl="0" indent="-285750">
              <a:buFont typeface="Arial" panose="020B0604020202020204" pitchFamily="34" charset="0"/>
              <a:buChar char="•"/>
            </a:pPr>
            <a:endParaRPr lang="sr-Latn-RS" dirty="0"/>
          </a:p>
          <a:p>
            <a:pPr marL="152400" lvl="0" indent="0"/>
            <a:r>
              <a:rPr lang="sr-Latn-RS" dirty="0"/>
              <a:t>Uslovi: </a:t>
            </a:r>
          </a:p>
          <a:p>
            <a:pPr marL="438150" lvl="0" indent="-285750">
              <a:buFont typeface="Arial" panose="020B0604020202020204" pitchFamily="34" charset="0"/>
              <a:buChar char="•"/>
            </a:pPr>
            <a:r>
              <a:rPr lang="sr-Latn-RS" dirty="0"/>
              <a:t>Zaustaviti instancu </a:t>
            </a:r>
          </a:p>
          <a:p>
            <a:pPr marL="438150" lvl="0" indent="-285750">
              <a:buFont typeface="Arial" panose="020B0604020202020204" pitchFamily="34" charset="0"/>
              <a:buChar char="•"/>
            </a:pPr>
            <a:r>
              <a:rPr lang="sr-Latn-RS" dirty="0"/>
              <a:t>Brisanje postojećih podataka (opciono)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999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6B98D810-B63B-50D7-3551-305158FC2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CF26D343-736C-C751-A931-FB6388841C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Preporučeni redosled restore-a</a:t>
            </a:r>
            <a:endParaRPr lang="en-US" sz="3200" dirty="0"/>
          </a:p>
        </p:txBody>
      </p:sp>
      <p:sp>
        <p:nvSpPr>
          <p:cNvPr id="306" name="Google Shape;306;p34">
            <a:extLst>
              <a:ext uri="{FF2B5EF4-FFF2-40B4-BE49-F238E27FC236}">
                <a16:creationId xmlns:a16="http://schemas.microsoft.com/office/drawing/2014/main" id="{1DF72524-8B9D-51FD-E972-D002A1EF4337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86492" y="1399073"/>
            <a:ext cx="7703999" cy="29871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95300" lvl="0" indent="-342900">
              <a:buFont typeface="+mj-lt"/>
              <a:buAutoNum type="arabicPeriod"/>
            </a:pPr>
            <a:r>
              <a:rPr lang="sr-Cyrl-RS" sz="2000" b="1" dirty="0"/>
              <a:t>&lt;</a:t>
            </a:r>
            <a:r>
              <a:rPr lang="sr-Cyrl-RS" sz="2000" b="1" dirty="0" err="1"/>
              <a:t>node_id</a:t>
            </a:r>
            <a:r>
              <a:rPr lang="sr-Cyrl-RS" sz="2000" b="1" dirty="0"/>
              <a:t>&gt;/</a:t>
            </a:r>
            <a:r>
              <a:rPr lang="sr-Latn-RS" sz="2000" b="1" dirty="0"/>
              <a:t>_</a:t>
            </a:r>
            <a:r>
              <a:rPr lang="sr-Cyrl-RS" sz="2000" b="1" dirty="0" err="1"/>
              <a:t>catalog_checkpoint</a:t>
            </a:r>
            <a:r>
              <a:rPr lang="sr-Cyrl-RS" sz="2000" dirty="0"/>
              <a:t> </a:t>
            </a:r>
            <a:r>
              <a:rPr lang="sr-Latn-RS" sz="2000" dirty="0"/>
              <a:t>-</a:t>
            </a:r>
            <a:r>
              <a:rPr lang="sr-Cyrl-RS" sz="2000" dirty="0"/>
              <a:t> </a:t>
            </a:r>
            <a:r>
              <a:rPr lang="sr-Cyrl-RS" sz="2000" dirty="0" err="1"/>
              <a:t>checkpoint</a:t>
            </a:r>
            <a:r>
              <a:rPr lang="sr-Cyrl-RS" sz="2000" dirty="0"/>
              <a:t> </a:t>
            </a:r>
            <a:r>
              <a:rPr lang="sr-Cyrl-RS" sz="2000" dirty="0" err="1"/>
              <a:t>fajl</a:t>
            </a:r>
            <a:r>
              <a:rPr lang="sr-Cyrl-RS" sz="2000" dirty="0"/>
              <a:t> </a:t>
            </a:r>
            <a:r>
              <a:rPr lang="sr-Cyrl-RS" sz="2000" dirty="0" err="1"/>
              <a:t>kataloga</a:t>
            </a:r>
            <a:r>
              <a:rPr lang="sr-Latn-RS" sz="2000" dirty="0"/>
              <a:t>,</a:t>
            </a:r>
            <a:endParaRPr lang="en-US" sz="2000" dirty="0"/>
          </a:p>
          <a:p>
            <a:pPr marL="495300" lvl="0" indent="-342900">
              <a:buFont typeface="+mj-lt"/>
              <a:buAutoNum type="arabicPeriod"/>
            </a:pPr>
            <a:r>
              <a:rPr lang="sr-Cyrl-RS" sz="2000" b="1" dirty="0"/>
              <a:t>&lt;</a:t>
            </a:r>
            <a:r>
              <a:rPr lang="sr-Cyrl-RS" sz="2000" b="1" dirty="0" err="1"/>
              <a:t>node_id</a:t>
            </a:r>
            <a:r>
              <a:rPr lang="sr-Cyrl-RS" sz="2000" b="1" dirty="0"/>
              <a:t>&gt;/</a:t>
            </a:r>
            <a:r>
              <a:rPr lang="sr-Cyrl-RS" sz="2000" b="1" dirty="0" err="1"/>
              <a:t>catalog</a:t>
            </a:r>
            <a:r>
              <a:rPr lang="sr-Cyrl-RS" sz="2000" b="1" dirty="0"/>
              <a:t>/</a:t>
            </a:r>
            <a:r>
              <a:rPr lang="sr-Cyrl-RS" sz="2000" dirty="0"/>
              <a:t> </a:t>
            </a:r>
            <a:r>
              <a:rPr lang="sr-Latn-RS" sz="2000" dirty="0"/>
              <a:t>-</a:t>
            </a:r>
            <a:r>
              <a:rPr lang="sr-Cyrl-RS" sz="2000" dirty="0"/>
              <a:t> </a:t>
            </a:r>
            <a:r>
              <a:rPr lang="sr-Cyrl-RS" sz="2000" dirty="0" err="1"/>
              <a:t>log</a:t>
            </a:r>
            <a:r>
              <a:rPr lang="sr-Cyrl-RS" sz="2000" dirty="0"/>
              <a:t> </a:t>
            </a:r>
            <a:r>
              <a:rPr lang="sr-Cyrl-RS" sz="2000" dirty="0" err="1"/>
              <a:t>fajlovi</a:t>
            </a:r>
            <a:r>
              <a:rPr lang="sr-Cyrl-RS" sz="2000" dirty="0"/>
              <a:t> </a:t>
            </a:r>
            <a:r>
              <a:rPr lang="sr-Cyrl-RS" sz="2000" dirty="0" err="1"/>
              <a:t>kataloga</a:t>
            </a:r>
            <a:r>
              <a:rPr lang="sr-Latn-RS" sz="2000" dirty="0"/>
              <a:t>,</a:t>
            </a:r>
            <a:endParaRPr lang="en-US" sz="2000" dirty="0"/>
          </a:p>
          <a:p>
            <a:pPr marL="495300" lvl="0" indent="-342900">
              <a:buFont typeface="+mj-lt"/>
              <a:buAutoNum type="arabicPeriod"/>
            </a:pPr>
            <a:r>
              <a:rPr lang="sr-Cyrl-RS" sz="2000" b="1" dirty="0"/>
              <a:t>&lt;</a:t>
            </a:r>
            <a:r>
              <a:rPr lang="sr-Cyrl-RS" sz="2000" b="1" dirty="0" err="1"/>
              <a:t>node_id</a:t>
            </a:r>
            <a:r>
              <a:rPr lang="sr-Cyrl-RS" sz="2000" b="1" dirty="0"/>
              <a:t>&gt;/</a:t>
            </a:r>
            <a:r>
              <a:rPr lang="sr-Cyrl-RS" sz="2000" b="1" dirty="0" err="1"/>
              <a:t>wal</a:t>
            </a:r>
            <a:r>
              <a:rPr lang="sr-Cyrl-RS" sz="2000" b="1" dirty="0"/>
              <a:t>/</a:t>
            </a:r>
            <a:r>
              <a:rPr lang="sr-Cyrl-RS" sz="2000" dirty="0"/>
              <a:t> </a:t>
            </a:r>
            <a:r>
              <a:rPr lang="sr-Latn-RS" sz="2000" dirty="0"/>
              <a:t>- WAL</a:t>
            </a:r>
            <a:r>
              <a:rPr lang="sr-Cyrl-RS" sz="2000" dirty="0"/>
              <a:t> </a:t>
            </a:r>
            <a:r>
              <a:rPr lang="sr-Cyrl-RS" sz="2000" dirty="0" err="1"/>
              <a:t>fajlovi</a:t>
            </a:r>
            <a:r>
              <a:rPr lang="sr-Latn-RS" sz="2000" dirty="0"/>
              <a:t>,</a:t>
            </a:r>
            <a:endParaRPr lang="en-US" sz="2000" dirty="0"/>
          </a:p>
          <a:p>
            <a:pPr marL="495300" lvl="0" indent="-342900">
              <a:buFont typeface="+mj-lt"/>
              <a:buAutoNum type="arabicPeriod"/>
            </a:pPr>
            <a:r>
              <a:rPr lang="sr-Cyrl-RS" sz="2000" b="1" dirty="0"/>
              <a:t>&lt;</a:t>
            </a:r>
            <a:r>
              <a:rPr lang="sr-Cyrl-RS" sz="2000" b="1" dirty="0" err="1"/>
              <a:t>node_id</a:t>
            </a:r>
            <a:r>
              <a:rPr lang="sr-Cyrl-RS" sz="2000" b="1" dirty="0"/>
              <a:t>&gt;/</a:t>
            </a:r>
            <a:r>
              <a:rPr lang="sr-Cyrl-RS" sz="2000" b="1" dirty="0" err="1"/>
              <a:t>dbs</a:t>
            </a:r>
            <a:r>
              <a:rPr lang="sr-Cyrl-RS" sz="2000" b="1" dirty="0"/>
              <a:t>/</a:t>
            </a:r>
            <a:r>
              <a:rPr lang="sr-Cyrl-RS" sz="2000" dirty="0"/>
              <a:t> </a:t>
            </a:r>
            <a:r>
              <a:rPr lang="sr-Latn-RS" sz="2000" dirty="0"/>
              <a:t>-</a:t>
            </a:r>
            <a:r>
              <a:rPr lang="sr-Cyrl-RS" sz="2000" dirty="0"/>
              <a:t> </a:t>
            </a:r>
            <a:r>
              <a:rPr lang="sr-Cyrl-RS" sz="2000" dirty="0" err="1"/>
              <a:t>Parquet</a:t>
            </a:r>
            <a:r>
              <a:rPr lang="sr-Cyrl-RS" sz="2000" dirty="0"/>
              <a:t> </a:t>
            </a:r>
            <a:r>
              <a:rPr lang="sr-Cyrl-RS" sz="2000" dirty="0" err="1"/>
              <a:t>fajlovi</a:t>
            </a:r>
            <a:r>
              <a:rPr lang="sr-Cyrl-RS" sz="2000" dirty="0"/>
              <a:t> </a:t>
            </a:r>
            <a:r>
              <a:rPr lang="sr-Cyrl-RS" sz="2000" dirty="0" err="1"/>
              <a:t>sa</a:t>
            </a:r>
            <a:r>
              <a:rPr lang="sr-Cyrl-RS" sz="2000" dirty="0"/>
              <a:t> </a:t>
            </a:r>
            <a:r>
              <a:rPr lang="sr-Cyrl-RS" sz="2000" dirty="0" err="1"/>
              <a:t>persistovanim</a:t>
            </a:r>
            <a:r>
              <a:rPr lang="sr-Cyrl-RS" sz="2000" dirty="0"/>
              <a:t> </a:t>
            </a:r>
            <a:r>
              <a:rPr lang="sr-Cyrl-RS" sz="2000" dirty="0" err="1"/>
              <a:t>podacima</a:t>
            </a:r>
            <a:r>
              <a:rPr lang="sr-Latn-RS" sz="2000" dirty="0"/>
              <a:t>,</a:t>
            </a:r>
            <a:endParaRPr lang="en-US" sz="2000" dirty="0"/>
          </a:p>
          <a:p>
            <a:pPr marL="495300" lvl="0" indent="-342900">
              <a:buFont typeface="+mj-lt"/>
              <a:buAutoNum type="arabicPeriod"/>
            </a:pPr>
            <a:r>
              <a:rPr lang="sr-Cyrl-RS" sz="2000" b="1" dirty="0"/>
              <a:t>&lt;</a:t>
            </a:r>
            <a:r>
              <a:rPr lang="sr-Cyrl-RS" sz="2000" b="1" dirty="0" err="1"/>
              <a:t>node_id</a:t>
            </a:r>
            <a:r>
              <a:rPr lang="sr-Cyrl-RS" sz="2000" b="1" dirty="0"/>
              <a:t>&gt;/</a:t>
            </a:r>
            <a:r>
              <a:rPr lang="sr-Cyrl-RS" sz="2000" b="1" dirty="0" err="1"/>
              <a:t>snapshots</a:t>
            </a:r>
            <a:r>
              <a:rPr lang="sr-Cyrl-RS" sz="2000" b="1" dirty="0"/>
              <a:t>/</a:t>
            </a:r>
            <a:r>
              <a:rPr lang="sr-Cyrl-RS" sz="2000" dirty="0"/>
              <a:t> </a:t>
            </a:r>
            <a:r>
              <a:rPr lang="sr-Latn-RS" sz="2000" dirty="0"/>
              <a:t>-</a:t>
            </a:r>
            <a:r>
              <a:rPr lang="sr-Cyrl-RS" sz="2000" dirty="0"/>
              <a:t> </a:t>
            </a:r>
            <a:r>
              <a:rPr lang="sr-Cyrl-RS" sz="2000" dirty="0" err="1"/>
              <a:t>snapshot</a:t>
            </a:r>
            <a:r>
              <a:rPr lang="sr-Cyrl-RS" sz="2000" dirty="0"/>
              <a:t> </a:t>
            </a:r>
            <a:r>
              <a:rPr lang="sr-Cyrl-RS" sz="2000" dirty="0" err="1"/>
              <a:t>fajlovi</a:t>
            </a:r>
            <a:r>
              <a:rPr lang="sr-Latn-RS" sz="2000" dirty="0"/>
              <a:t>.</a:t>
            </a:r>
            <a:endParaRPr lang="en-US" sz="2000" dirty="0"/>
          </a:p>
          <a:p>
            <a:pPr marL="152400" lvl="0" indent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865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E2FABCF3-F0C2-4DD7-83C5-813426C1F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DA53828F-0938-2400-08EB-2199216749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8562" y="26004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Restore na lokalnom fajl sistemu</a:t>
            </a:r>
            <a:endParaRPr lang="en-US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94384D-DDB2-54F5-944F-C374CEBFB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013" y="832747"/>
            <a:ext cx="3984387" cy="431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76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BE481A40-F1AA-FBFC-1B2A-C374D94A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771DDEE1-EB57-BD09-44C9-2F5196476D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dirty="0"/>
              <a:t>Restore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S3-kompatibilnom </a:t>
            </a:r>
            <a:r>
              <a:rPr lang="en-US" dirty="0" err="1"/>
              <a:t>skladištu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88C9E8-26DE-EE8F-E90C-DDCAAFD54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793" y="1150143"/>
            <a:ext cx="4971248" cy="386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5260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86303E84-2C5F-F82B-3F59-B35EEDB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1BD8E730-90A1-3D21-FE2B-B82AA43040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Napomene za Docker okruženje</a:t>
            </a:r>
            <a:endParaRPr lang="en-US" sz="3200" dirty="0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59A20F57-7B30-2722-1D9F-341D00D84F15}"/>
              </a:ext>
            </a:extLst>
          </p:cNvPr>
          <p:cNvSpPr>
            <a:spLocks noGrp="1" noChangeArrowheads="1"/>
          </p:cNvSpPr>
          <p:nvPr>
            <p:ph type="subTitle" idx="3"/>
          </p:nvPr>
        </p:nvSpPr>
        <p:spPr bwMode="auto">
          <a:xfrm>
            <a:off x="692498" y="1405830"/>
            <a:ext cx="8045865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Konzistentnost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volumena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—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koristiti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iste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volume mount-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ove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pri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backup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restore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operacijama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Dozvole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fajlova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—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osigurati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da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korisnik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unutar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kontejnera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pravo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čitanja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vraćenim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fajlovima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endParaRPr kumimoji="0" lang="sr-Latn-R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pace Grotesk Medium" panose="020B0604020202020204" charset="0"/>
              <a:cs typeface="Space Grotesk Medium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Pristup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backup-u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—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montirati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backup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direktorijum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kako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bi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fajlovi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mogli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kopirati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između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kontejnera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hosta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endParaRPr kumimoji="0" lang="sr-Latn-R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pace Grotesk Medium" panose="020B0604020202020204" charset="0"/>
              <a:cs typeface="Space Grotesk Medium" panose="020B060402020202020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b="1" dirty="0"/>
              <a:t>UID </a:t>
            </a:r>
            <a:r>
              <a:rPr lang="en-US" b="1" dirty="0" err="1"/>
              <a:t>korisnika</a:t>
            </a:r>
            <a:r>
              <a:rPr lang="en-US" dirty="0"/>
              <a:t> — pre restore-a </a:t>
            </a:r>
            <a:r>
              <a:rPr lang="en-US" dirty="0" err="1"/>
              <a:t>utvrditi</a:t>
            </a:r>
            <a:r>
              <a:rPr lang="en-US" dirty="0"/>
              <a:t> </a:t>
            </a:r>
            <a:r>
              <a:rPr lang="en-US" dirty="0" err="1"/>
              <a:t>tačan</a:t>
            </a:r>
            <a:r>
              <a:rPr lang="en-US" dirty="0"/>
              <a:t> UID </a:t>
            </a:r>
            <a:r>
              <a:rPr lang="en-US" dirty="0" err="1"/>
              <a:t>korisnika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kontejnera</a:t>
            </a:r>
            <a:r>
              <a:rPr lang="en-US" dirty="0"/>
              <a:t> (docker exec &lt;</a:t>
            </a:r>
            <a:r>
              <a:rPr lang="en-US" dirty="0" err="1"/>
              <a:t>kontejner</a:t>
            </a:r>
            <a:r>
              <a:rPr lang="en-US" dirty="0"/>
              <a:t>&gt; id), </a:t>
            </a:r>
            <a:r>
              <a:rPr lang="en-US" dirty="0" err="1"/>
              <a:t>jer</a:t>
            </a:r>
            <a:r>
              <a:rPr lang="en-US" dirty="0"/>
              <a:t> se </a:t>
            </a:r>
            <a:r>
              <a:rPr lang="en-US" dirty="0" err="1"/>
              <a:t>razlikuje</a:t>
            </a:r>
            <a:r>
              <a:rPr lang="en-US" dirty="0"/>
              <a:t> od </a:t>
            </a:r>
            <a:r>
              <a:rPr lang="en-US" dirty="0" err="1"/>
              <a:t>podrazumevano</a:t>
            </a:r>
            <a:r>
              <a:rPr lang="en-US" dirty="0"/>
              <a:t> </a:t>
            </a:r>
            <a:r>
              <a:rPr lang="en-US" dirty="0" err="1"/>
              <a:t>očekivanog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369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>
          <a:extLst>
            <a:ext uri="{FF2B5EF4-FFF2-40B4-BE49-F238E27FC236}">
              <a16:creationId xmlns:a16="http://schemas.microsoft.com/office/drawing/2014/main" id="{D7E11C44-FE7D-A480-3C84-B2E95F871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>
            <a:extLst>
              <a:ext uri="{FF2B5EF4-FFF2-40B4-BE49-F238E27FC236}">
                <a16:creationId xmlns:a16="http://schemas.microsoft.com/office/drawing/2014/main" id="{738F8A22-677E-A4BC-3511-496389146A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10193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/>
            <a:r>
              <a:rPr lang="sr-Latn-RS" sz="3200" dirty="0"/>
              <a:t>Preporuke za vreme izvođenje backup-a i restore-a</a:t>
            </a:r>
            <a:endParaRPr lang="en-US" sz="32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58B24B6-EECF-A608-14CB-B72C87FA407D}"/>
              </a:ext>
            </a:extLst>
          </p:cNvPr>
          <p:cNvSpPr>
            <a:spLocks noGrp="1" noChangeArrowheads="1"/>
          </p:cNvSpPr>
          <p:nvPr>
            <p:ph type="subTitle" idx="3"/>
          </p:nvPr>
        </p:nvSpPr>
        <p:spPr bwMode="auto">
          <a:xfrm>
            <a:off x="560715" y="1564799"/>
            <a:ext cx="816007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pace Grotesk Medium" panose="020B0604020202020204" charset="0"/>
              <a:cs typeface="Space Grotesk Medium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Backup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izvoditi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tokom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zastoja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sistema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ili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perioda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minimalnog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opterećenja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Kopiranje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fajlova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dok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je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baza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aktivna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može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rezultovati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nekonzistentnim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backup-om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Razmotriti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korišćenje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filesystem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ili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storage snapshot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mehanizama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ako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su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dostupni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Kompresija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backup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arhive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nije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obavezna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ali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preporučuje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dugoročno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čuvanje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Restore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izvoditi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isključivo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zaustavljenim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sistemom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— restore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aktivnom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instancom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nije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podržan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može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dovesti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do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nepredvidivog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ponašanja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 Medium" panose="020B0604020202020204" charset="0"/>
                <a:cs typeface="Space Grotesk Medium" panose="020B060402020202020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44688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0" y="0"/>
            <a:ext cx="340519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3"/>
          <p:cNvSpPr txBox="1">
            <a:spLocks noGrp="1"/>
          </p:cNvSpPr>
          <p:nvPr>
            <p:ph type="title"/>
          </p:nvPr>
        </p:nvSpPr>
        <p:spPr>
          <a:xfrm>
            <a:off x="3405201" y="2388500"/>
            <a:ext cx="5025574" cy="16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r-Latn-RS" dirty="0"/>
              <a:t>Hvala na pažnji!</a:t>
            </a:r>
            <a:endParaRPr dirty="0"/>
          </a:p>
        </p:txBody>
      </p:sp>
      <p:grpSp>
        <p:nvGrpSpPr>
          <p:cNvPr id="295" name="Google Shape;295;p33"/>
          <p:cNvGrpSpPr/>
          <p:nvPr/>
        </p:nvGrpSpPr>
        <p:grpSpPr>
          <a:xfrm rot="756538">
            <a:off x="5159567" y="-1610422"/>
            <a:ext cx="4574157" cy="3479412"/>
            <a:chOff x="1522650" y="1117750"/>
            <a:chExt cx="4574075" cy="3479350"/>
          </a:xfrm>
        </p:grpSpPr>
        <p:sp>
          <p:nvSpPr>
            <p:cNvPr id="296" name="Google Shape;296;p33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3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Data Migration Project Proposal by Slidesgo">
  <a:themeElements>
    <a:clrScheme name="Simple Light">
      <a:dk1>
        <a:srgbClr val="241160"/>
      </a:dk1>
      <a:lt1>
        <a:srgbClr val="FFFFFF"/>
      </a:lt1>
      <a:dk2>
        <a:srgbClr val="E2E4FC"/>
      </a:dk2>
      <a:lt2>
        <a:srgbClr val="8861F1"/>
      </a:lt2>
      <a:accent1>
        <a:srgbClr val="545EEA"/>
      </a:accent1>
      <a:accent2>
        <a:srgbClr val="0B9CDC"/>
      </a:accent2>
      <a:accent3>
        <a:srgbClr val="01CFE6"/>
      </a:accent3>
      <a:accent4>
        <a:srgbClr val="FFFFFF"/>
      </a:accent4>
      <a:accent5>
        <a:srgbClr val="FFFFFF"/>
      </a:accent5>
      <a:accent6>
        <a:srgbClr val="FFFFFF"/>
      </a:accent6>
      <a:hlink>
        <a:srgbClr val="24116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495</Words>
  <Application>Microsoft Office PowerPoint</Application>
  <PresentationFormat>On-screen Show (16:9)</PresentationFormat>
  <Paragraphs>57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Space Grotesk</vt:lpstr>
      <vt:lpstr>Raleway</vt:lpstr>
      <vt:lpstr>Arial</vt:lpstr>
      <vt:lpstr>Space Grotesk Medium</vt:lpstr>
      <vt:lpstr>Cairo</vt:lpstr>
      <vt:lpstr>Data Migration Project Proposal by Slidesgo</vt:lpstr>
      <vt:lpstr>Backup i restore mehanizmi u InfluxDB bazi podataka</vt:lpstr>
      <vt:lpstr>Object storage</vt:lpstr>
      <vt:lpstr>Struktura podataka na disku </vt:lpstr>
      <vt:lpstr>Odsustvo ugrađenih alata</vt:lpstr>
      <vt:lpstr>Preporučeni redosled backup-a</vt:lpstr>
      <vt:lpstr>Backup na lokalnom fajl sistemu</vt:lpstr>
      <vt:lpstr>Backup na S3-kompatibilnom skladištu</vt:lpstr>
      <vt:lpstr>Restore</vt:lpstr>
      <vt:lpstr>Preporučeni redosled restore-a</vt:lpstr>
      <vt:lpstr>Restore na lokalnom fajl sistemu</vt:lpstr>
      <vt:lpstr>Restore na S3-kompatibilnom skladištu</vt:lpstr>
      <vt:lpstr>Napomene za Docker okruženje</vt:lpstr>
      <vt:lpstr>Preporuke za vreme izvođenje backup-a i restore-a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Anita Golubovic</dc:creator>
  <cp:lastModifiedBy>Anita Golubovic</cp:lastModifiedBy>
  <cp:revision>10</cp:revision>
  <dcterms:modified xsi:type="dcterms:W3CDTF">2026-05-25T16:34:34Z</dcterms:modified>
</cp:coreProperties>
</file>